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4453" r:id="rId2"/>
    <p:sldId id="4455" r:id="rId3"/>
    <p:sldId id="4452" r:id="rId4"/>
    <p:sldId id="4456" r:id="rId5"/>
    <p:sldId id="4457" r:id="rId6"/>
    <p:sldId id="4458" r:id="rId7"/>
    <p:sldId id="4459" r:id="rId8"/>
    <p:sldId id="4460" r:id="rId9"/>
    <p:sldId id="4461" r:id="rId10"/>
    <p:sldId id="4462" r:id="rId11"/>
    <p:sldId id="4467" r:id="rId12"/>
    <p:sldId id="4468" r:id="rId13"/>
    <p:sldId id="4469" r:id="rId14"/>
    <p:sldId id="4470" r:id="rId15"/>
    <p:sldId id="4471" r:id="rId16"/>
    <p:sldId id="4463" r:id="rId17"/>
    <p:sldId id="4464" r:id="rId18"/>
    <p:sldId id="4465" r:id="rId19"/>
    <p:sldId id="4466" r:id="rId20"/>
  </p:sldIdLst>
  <p:sldSz cx="9144000" cy="5143500" type="screen16x9"/>
  <p:notesSz cx="6858000" cy="9144000"/>
  <p:embeddedFontLst>
    <p:embeddedFont>
      <p:font typeface="Roboto" panose="020B0604020202020204" charset="0"/>
      <p:regular r:id="rId22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Montserrat Medium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ena" initials="MOU" lastIdx="14" clrIdx="0">
    <p:extLst>
      <p:ext uri="{19B8F6BF-5375-455C-9EA6-DF929625EA0E}">
        <p15:presenceInfo xmlns:p15="http://schemas.microsoft.com/office/powerpoint/2012/main" userId="Leena" providerId="None"/>
      </p:ext>
    </p:extLst>
  </p:cmAuthor>
  <p:cmAuthor id="2" name="Ratanesh Srivastava" initials="RS" lastIdx="7" clrIdx="1">
    <p:extLst>
      <p:ext uri="{19B8F6BF-5375-455C-9EA6-DF929625EA0E}">
        <p15:presenceInfo xmlns:p15="http://schemas.microsoft.com/office/powerpoint/2012/main" userId="S-1-5-21-4057436376-2765445591-230368968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99CC"/>
    <a:srgbClr val="003399"/>
    <a:srgbClr val="0066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3776A5-69A3-4616-825A-9E4B3A5CE0FD}" v="1" dt="2025-06-13T07:04:10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>
      <p:cViewPr varScale="1">
        <p:scale>
          <a:sx n="90" d="100"/>
          <a:sy n="90" d="100"/>
        </p:scale>
        <p:origin x="816" y="-4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na Shiriskar" userId="34c50a72-537d-44d3-8412-23ecf5b8895a" providerId="ADAL" clId="{B43776A5-69A3-4616-825A-9E4B3A5CE0FD}"/>
    <pc:docChg chg="addSld modSld">
      <pc:chgData name="Rachana Shiriskar" userId="34c50a72-537d-44d3-8412-23ecf5b8895a" providerId="ADAL" clId="{B43776A5-69A3-4616-825A-9E4B3A5CE0FD}" dt="2025-06-13T07:04:10.835" v="0"/>
      <pc:docMkLst>
        <pc:docMk/>
      </pc:docMkLst>
      <pc:sldChg chg="add">
        <pc:chgData name="Rachana Shiriskar" userId="34c50a72-537d-44d3-8412-23ecf5b8895a" providerId="ADAL" clId="{B43776A5-69A3-4616-825A-9E4B3A5CE0FD}" dt="2025-06-13T07:04:10.835" v="0"/>
        <pc:sldMkLst>
          <pc:docMk/>
          <pc:sldMk cId="919272599" sldId="445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Internal test accuracy (%)</c:v>
                </c:pt>
              </c:strCache>
            </c:strRef>
          </c:tx>
          <c:spPr>
            <a:solidFill>
              <a:srgbClr val="05539C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Sugarcane</c:v>
                </c:pt>
                <c:pt idx="1">
                  <c:v>Pigeon Pea</c:v>
                </c:pt>
                <c:pt idx="2">
                  <c:v>Grapes</c:v>
                </c:pt>
                <c:pt idx="3">
                  <c:v>Mustard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88.07</c:v>
                </c:pt>
                <c:pt idx="1">
                  <c:v>91.89</c:v>
                </c:pt>
                <c:pt idx="2">
                  <c:v>99.13</c:v>
                </c:pt>
                <c:pt idx="3">
                  <c:v>97.02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FAB-4E28-A0FE-C5015E5F06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 (NPSS) accuracy (%)</c:v>
                </c:pt>
              </c:strCache>
            </c:strRef>
          </c:tx>
          <c:spPr>
            <a:solidFill>
              <a:srgbClr val="F59222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Sugarcane</c:v>
                </c:pt>
                <c:pt idx="1">
                  <c:v>Pigeon Pea</c:v>
                </c:pt>
                <c:pt idx="2">
                  <c:v>Grapes</c:v>
                </c:pt>
                <c:pt idx="3">
                  <c:v>Mustard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66.48</c:v>
                </c:pt>
                <c:pt idx="1">
                  <c:v>71.31</c:v>
                </c:pt>
                <c:pt idx="2">
                  <c:v>78.569999999999993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FAB-4E28-A0FE-C5015E5F06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0"/>
          <c:min val="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pt-BR" sz="1200" b="1">
                <a:latin typeface="Calibri"/>
              </a:rPr>
              <a:t>Sugarcane (N=23): r = -0.74, p &lt; 0.001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Experiments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05539C"/>
              </a:solidFill>
              <a:ln>
                <a:noFill/>
              </a:ln>
            </c:spPr>
          </c:marker>
          <c:xVal>
            <c:numRef>
              <c:f>Sheet1!$A$2:$A$24</c:f>
              <c:numCache>
                <c:formatCode>General</c:formatCode>
                <c:ptCount val="23"/>
                <c:pt idx="0">
                  <c:v>96.73</c:v>
                </c:pt>
                <c:pt idx="1">
                  <c:v>95.55</c:v>
                </c:pt>
                <c:pt idx="2">
                  <c:v>96.16</c:v>
                </c:pt>
                <c:pt idx="3">
                  <c:v>96.16</c:v>
                </c:pt>
                <c:pt idx="4">
                  <c:v>94.47</c:v>
                </c:pt>
                <c:pt idx="5">
                  <c:v>91.55</c:v>
                </c:pt>
                <c:pt idx="6">
                  <c:v>86.64</c:v>
                </c:pt>
                <c:pt idx="7">
                  <c:v>84.33</c:v>
                </c:pt>
                <c:pt idx="8">
                  <c:v>93.7</c:v>
                </c:pt>
                <c:pt idx="9">
                  <c:v>89.55</c:v>
                </c:pt>
                <c:pt idx="10">
                  <c:v>95.39</c:v>
                </c:pt>
                <c:pt idx="11">
                  <c:v>93.24</c:v>
                </c:pt>
                <c:pt idx="12">
                  <c:v>94.62</c:v>
                </c:pt>
                <c:pt idx="13">
                  <c:v>89.86</c:v>
                </c:pt>
                <c:pt idx="14">
                  <c:v>94.01</c:v>
                </c:pt>
                <c:pt idx="15">
                  <c:v>96.16</c:v>
                </c:pt>
                <c:pt idx="16">
                  <c:v>95.24</c:v>
                </c:pt>
                <c:pt idx="17">
                  <c:v>95.55</c:v>
                </c:pt>
                <c:pt idx="18">
                  <c:v>91.86</c:v>
                </c:pt>
                <c:pt idx="19">
                  <c:v>94.93</c:v>
                </c:pt>
                <c:pt idx="20">
                  <c:v>94.93</c:v>
                </c:pt>
                <c:pt idx="21">
                  <c:v>87.56</c:v>
                </c:pt>
                <c:pt idx="22">
                  <c:v>95.24</c:v>
                </c:pt>
              </c:numCache>
            </c:numRef>
          </c:xVal>
          <c:yVal>
            <c:numRef>
              <c:f>Sheet1!$B$2:$B$24</c:f>
              <c:numCache>
                <c:formatCode>General</c:formatCode>
                <c:ptCount val="23"/>
                <c:pt idx="0">
                  <c:v>35.770000000000003</c:v>
                </c:pt>
                <c:pt idx="1">
                  <c:v>38.869999999999997</c:v>
                </c:pt>
                <c:pt idx="2">
                  <c:v>31.55</c:v>
                </c:pt>
                <c:pt idx="3">
                  <c:v>25.63</c:v>
                </c:pt>
                <c:pt idx="4">
                  <c:v>41.13</c:v>
                </c:pt>
                <c:pt idx="5">
                  <c:v>48.17</c:v>
                </c:pt>
                <c:pt idx="6">
                  <c:v>65.069999999999993</c:v>
                </c:pt>
                <c:pt idx="7">
                  <c:v>65.63</c:v>
                </c:pt>
                <c:pt idx="8">
                  <c:v>45.07</c:v>
                </c:pt>
                <c:pt idx="9">
                  <c:v>47.61</c:v>
                </c:pt>
                <c:pt idx="10">
                  <c:v>36.340000000000003</c:v>
                </c:pt>
                <c:pt idx="11">
                  <c:v>47.04</c:v>
                </c:pt>
                <c:pt idx="12">
                  <c:v>43.94</c:v>
                </c:pt>
                <c:pt idx="13">
                  <c:v>40</c:v>
                </c:pt>
                <c:pt idx="14">
                  <c:v>44.51</c:v>
                </c:pt>
                <c:pt idx="15">
                  <c:v>35.770000000000003</c:v>
                </c:pt>
                <c:pt idx="16">
                  <c:v>44.51</c:v>
                </c:pt>
                <c:pt idx="17">
                  <c:v>47.32</c:v>
                </c:pt>
                <c:pt idx="18">
                  <c:v>44.79</c:v>
                </c:pt>
                <c:pt idx="19">
                  <c:v>43.38</c:v>
                </c:pt>
                <c:pt idx="20">
                  <c:v>54.65</c:v>
                </c:pt>
                <c:pt idx="21">
                  <c:v>66.48</c:v>
                </c:pt>
                <c:pt idx="22">
                  <c:v>57.46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F6-416B-86CD-21B3E7B53F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98"/>
          <c:min val="82"/>
        </c:scaling>
        <c:delete val="0"/>
        <c:axPos val="b"/>
        <c:title>
          <c:tx>
            <c:rich>
              <a:bodyPr/>
              <a:lstStyle/>
              <a:p>
                <a:r>
                  <a:rPr lang="en-IN" sz="900" b="0"/>
                  <a:t>Internal validation accuracy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70"/>
          <c:min val="2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 sz="900" b="0"/>
                  <a:t>NPSS field accuracy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pt-BR" sz="1200" b="1">
                <a:latin typeface="Calibri"/>
              </a:rPr>
              <a:t>Pigeon Pea (N=26): r = 0.14, p = 0.51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Experiments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F59222"/>
              </a:solidFill>
              <a:ln>
                <a:noFill/>
              </a:ln>
            </c:spPr>
          </c:marker>
          <c:xVal>
            <c:numRef>
              <c:f>Sheet1!$A$2:$A$27</c:f>
              <c:numCache>
                <c:formatCode>General</c:formatCode>
                <c:ptCount val="26"/>
                <c:pt idx="0">
                  <c:v>90.66</c:v>
                </c:pt>
                <c:pt idx="1">
                  <c:v>92.03</c:v>
                </c:pt>
                <c:pt idx="2">
                  <c:v>84.02</c:v>
                </c:pt>
                <c:pt idx="3">
                  <c:v>76.03</c:v>
                </c:pt>
                <c:pt idx="4">
                  <c:v>90.63</c:v>
                </c:pt>
                <c:pt idx="5">
                  <c:v>76.58</c:v>
                </c:pt>
                <c:pt idx="6">
                  <c:v>91.18</c:v>
                </c:pt>
                <c:pt idx="7">
                  <c:v>81.819999999999993</c:v>
                </c:pt>
                <c:pt idx="8">
                  <c:v>81.819999999999993</c:v>
                </c:pt>
                <c:pt idx="9">
                  <c:v>89.26</c:v>
                </c:pt>
                <c:pt idx="10">
                  <c:v>80.72</c:v>
                </c:pt>
                <c:pt idx="11">
                  <c:v>86.23</c:v>
                </c:pt>
                <c:pt idx="12">
                  <c:v>82.92</c:v>
                </c:pt>
                <c:pt idx="13">
                  <c:v>77.69</c:v>
                </c:pt>
                <c:pt idx="14">
                  <c:v>75.760000000000005</c:v>
                </c:pt>
                <c:pt idx="15">
                  <c:v>69.97</c:v>
                </c:pt>
                <c:pt idx="16">
                  <c:v>74.38</c:v>
                </c:pt>
                <c:pt idx="17">
                  <c:v>79.06</c:v>
                </c:pt>
                <c:pt idx="18">
                  <c:v>98.56</c:v>
                </c:pt>
                <c:pt idx="19">
                  <c:v>98.42</c:v>
                </c:pt>
                <c:pt idx="20">
                  <c:v>95.11</c:v>
                </c:pt>
                <c:pt idx="21">
                  <c:v>90.94</c:v>
                </c:pt>
                <c:pt idx="22">
                  <c:v>89.64</c:v>
                </c:pt>
                <c:pt idx="23">
                  <c:v>88.63</c:v>
                </c:pt>
                <c:pt idx="24">
                  <c:v>87.34</c:v>
                </c:pt>
                <c:pt idx="25">
                  <c:v>87.77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55.74</c:v>
                </c:pt>
                <c:pt idx="1">
                  <c:v>65.569999999999993</c:v>
                </c:pt>
                <c:pt idx="2">
                  <c:v>57.38</c:v>
                </c:pt>
                <c:pt idx="3">
                  <c:v>25.41</c:v>
                </c:pt>
                <c:pt idx="4">
                  <c:v>62.02</c:v>
                </c:pt>
                <c:pt idx="5">
                  <c:v>62.02</c:v>
                </c:pt>
                <c:pt idx="6">
                  <c:v>66.94</c:v>
                </c:pt>
                <c:pt idx="7">
                  <c:v>61.48</c:v>
                </c:pt>
                <c:pt idx="8">
                  <c:v>60.93</c:v>
                </c:pt>
                <c:pt idx="9">
                  <c:v>71.31</c:v>
                </c:pt>
                <c:pt idx="10">
                  <c:v>52.46</c:v>
                </c:pt>
                <c:pt idx="11">
                  <c:v>62.02</c:v>
                </c:pt>
                <c:pt idx="12">
                  <c:v>67.209999999999994</c:v>
                </c:pt>
                <c:pt idx="13">
                  <c:v>63.66</c:v>
                </c:pt>
                <c:pt idx="14">
                  <c:v>64.75</c:v>
                </c:pt>
                <c:pt idx="15">
                  <c:v>50.82</c:v>
                </c:pt>
                <c:pt idx="16">
                  <c:v>52.19</c:v>
                </c:pt>
                <c:pt idx="17">
                  <c:v>53.01</c:v>
                </c:pt>
                <c:pt idx="18">
                  <c:v>49.73</c:v>
                </c:pt>
                <c:pt idx="19">
                  <c:v>57.38</c:v>
                </c:pt>
                <c:pt idx="20">
                  <c:v>48.36</c:v>
                </c:pt>
                <c:pt idx="21">
                  <c:v>58.2</c:v>
                </c:pt>
                <c:pt idx="22">
                  <c:v>47.81</c:v>
                </c:pt>
                <c:pt idx="23">
                  <c:v>57.1</c:v>
                </c:pt>
                <c:pt idx="24">
                  <c:v>64.209999999999994</c:v>
                </c:pt>
                <c:pt idx="25">
                  <c:v>45.63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E17-406A-B43F-A85E3EA92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00"/>
          <c:min val="65"/>
        </c:scaling>
        <c:delete val="0"/>
        <c:axPos val="b"/>
        <c:title>
          <c:tx>
            <c:rich>
              <a:bodyPr/>
              <a:lstStyle/>
              <a:p>
                <a:r>
                  <a:rPr lang="en-IN" sz="900" b="0"/>
                  <a:t>Internal validation accuracy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75"/>
          <c:min val="2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IN" sz="900" b="0"/>
                  <a:t>NPSS field accuracy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21fc35049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21fc35049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CF97DF3-90E8-5FD5-7556-E807C99E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aa3f9146eb_0_159:notes">
            <a:extLst>
              <a:ext uri="{FF2B5EF4-FFF2-40B4-BE49-F238E27FC236}">
                <a16:creationId xmlns:a16="http://schemas.microsoft.com/office/drawing/2014/main" id="{CD6B3EF5-95C5-7DD4-3667-55335F262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aa3f9146eb_0_159:notes">
            <a:extLst>
              <a:ext uri="{FF2B5EF4-FFF2-40B4-BE49-F238E27FC236}">
                <a16:creationId xmlns:a16="http://schemas.microsoft.com/office/drawing/2014/main" id="{788001AA-AD2D-322A-53FD-09070D7BD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458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daa0e952a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edaa0e952a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75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1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5" name="Google Shape;2825;p91"/>
          <p:cNvGrpSpPr/>
          <p:nvPr/>
        </p:nvGrpSpPr>
        <p:grpSpPr>
          <a:xfrm>
            <a:off x="8409385" y="4152050"/>
            <a:ext cx="1040638" cy="901375"/>
            <a:chOff x="948060" y="3972813"/>
            <a:chExt cx="1040638" cy="901375"/>
          </a:xfrm>
        </p:grpSpPr>
        <p:grpSp>
          <p:nvGrpSpPr>
            <p:cNvPr id="2826" name="Google Shape;2826;p91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2827" name="Google Shape;2827;p9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28" name="Google Shape;2828;p9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9" name="Google Shape;2829;p91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2830" name="Google Shape;2830;p9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31" name="Google Shape;2831;p9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32" name="Google Shape;2832;p9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33" name="Google Shape;2833;p91"/>
          <p:cNvSpPr txBox="1">
            <a:spLocks noGrp="1"/>
          </p:cNvSpPr>
          <p:nvPr>
            <p:ph type="ctrTitle" idx="4294967295"/>
          </p:nvPr>
        </p:nvSpPr>
        <p:spPr>
          <a:xfrm flipH="1">
            <a:off x="338866" y="1000000"/>
            <a:ext cx="4319684" cy="1300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dirty="0">
                <a:solidFill>
                  <a:srgbClr val="F5922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AI-Driven Crop Disease Detection Using Image Processing and Computer Vision Techniques</a:t>
            </a:r>
            <a:endParaRPr b="0" dirty="0">
              <a:solidFill>
                <a:srgbClr val="F5922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834" name="Google Shape;2834;p91"/>
          <p:cNvGrpSpPr/>
          <p:nvPr/>
        </p:nvGrpSpPr>
        <p:grpSpPr>
          <a:xfrm>
            <a:off x="507200" y="2539942"/>
            <a:ext cx="4208350" cy="192185"/>
            <a:chOff x="948060" y="2996029"/>
            <a:chExt cx="4208350" cy="192185"/>
          </a:xfrm>
        </p:grpSpPr>
        <p:sp>
          <p:nvSpPr>
            <p:cNvPr id="2835" name="Google Shape;2835;p91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2836" name="Google Shape;2836;p91"/>
            <p:cNvCxnSpPr>
              <a:stCxn id="2837" idx="6"/>
              <a:endCxn id="2838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37" name="Google Shape;2837;p91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38" name="Google Shape;2838;p91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839" name="Google Shape;2839;p91"/>
          <p:cNvGrpSpPr/>
          <p:nvPr/>
        </p:nvGrpSpPr>
        <p:grpSpPr>
          <a:xfrm rot="10800000">
            <a:off x="7655447" y="3105433"/>
            <a:ext cx="1803578" cy="1592367"/>
            <a:chOff x="-4912150" y="-393637"/>
            <a:chExt cx="2057000" cy="1816112"/>
          </a:xfrm>
          <a:solidFill>
            <a:srgbClr val="05539C"/>
          </a:solidFill>
        </p:grpSpPr>
        <p:sp>
          <p:nvSpPr>
            <p:cNvPr id="2840" name="Google Shape;2840;p91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1" name="Google Shape;2841;p91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2" name="Google Shape;2842;p91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3" name="Google Shape;2843;p91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4" name="Google Shape;2844;p91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5" name="Google Shape;2845;p91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6" name="Google Shape;2846;p91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7" name="Google Shape;2847;p91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8" name="Google Shape;2848;p9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49" name="Google Shape;2849;p9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0" name="Google Shape;2850;p9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1" name="Google Shape;2851;p9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2" name="Google Shape;2852;p91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3" name="Google Shape;2853;p91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4" name="Google Shape;2854;p91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5" name="Google Shape;2855;p91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91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7" name="Google Shape;2857;p9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8" name="Google Shape;2858;p9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859" name="Google Shape;2859;p91"/>
          <p:cNvPicPr preferRelativeResize="0"/>
          <p:nvPr/>
        </p:nvPicPr>
        <p:blipFill rotWithShape="1">
          <a:blip r:embed="rId3">
            <a:alphaModFix/>
          </a:blip>
          <a:srcRect l="46714" r="16268"/>
          <a:stretch/>
        </p:blipFill>
        <p:spPr>
          <a:xfrm>
            <a:off x="4803838" y="761925"/>
            <a:ext cx="3256800" cy="3255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60" name="Google Shape;2860;p91"/>
          <p:cNvSpPr/>
          <p:nvPr/>
        </p:nvSpPr>
        <p:spPr>
          <a:xfrm>
            <a:off x="4715550" y="669150"/>
            <a:ext cx="3416400" cy="3431400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rgbClr val="F59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2863" name="Google Shape;2863;p91"/>
          <p:cNvGrpSpPr/>
          <p:nvPr/>
        </p:nvGrpSpPr>
        <p:grpSpPr>
          <a:xfrm flipH="1">
            <a:off x="-711278" y="4152050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2864" name="Google Shape;2864;p91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5" name="Google Shape;2865;p91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6" name="Google Shape;2866;p91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7" name="Google Shape;2867;p91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8" name="Google Shape;2868;p91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91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0" name="Google Shape;2870;p91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1" name="Google Shape;2871;p91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2" name="Google Shape;2872;p91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3" name="Google Shape;2873;p91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4" name="Google Shape;2874;p91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5" name="Google Shape;2875;p91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6" name="Google Shape;2876;p91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7" name="Google Shape;2877;p91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8" name="Google Shape;2878;p91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9" name="Google Shape;2879;p91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91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1" name="Google Shape;2881;p91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2" name="Google Shape;2882;p91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p91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4" name="Google Shape;2884;p91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5" name="Google Shape;2885;p91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6" name="Google Shape;2886;p91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7" name="Google Shape;2887;p91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8" name="Google Shape;2888;p91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890" name="Google Shape;2890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3453" y="0"/>
            <a:ext cx="776978" cy="7472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33;p91">
            <a:extLst>
              <a:ext uri="{FF2B5EF4-FFF2-40B4-BE49-F238E27FC236}">
                <a16:creationId xmlns:a16="http://schemas.microsoft.com/office/drawing/2014/main" id="{BAB366F1-DA8D-4625-320D-5C035B9F2F90}"/>
              </a:ext>
            </a:extLst>
          </p:cNvPr>
          <p:cNvSpPr txBox="1">
            <a:spLocks/>
          </p:cNvSpPr>
          <p:nvPr/>
        </p:nvSpPr>
        <p:spPr>
          <a:xfrm flipH="1">
            <a:off x="300000" y="2330000"/>
            <a:ext cx="4300000" cy="204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</a:pPr>
            <a:r>
              <a:rPr lang="nl-BE" sz="12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By</a:t>
            </a:r>
          </a:p>
          <a:p>
            <a:pPr algn="ctr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</a:pPr>
            <a:r>
              <a:rPr lang="nl-BE" sz="11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Yadnika Pashte and Yashodhan Rajapkar (CHANAKYA Fellows)</a:t>
            </a:r>
          </a:p>
          <a:p>
            <a:pPr algn="ctr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</a:pPr>
            <a:r>
              <a:rPr lang="nl-BE" sz="11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Institute Mentor</a:t>
            </a:r>
            <a:r>
              <a:rPr lang="nl-BE" sz="11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Dr. Sushopti </a:t>
            </a:r>
            <a:r>
              <a:rPr lang="nl-BE" sz="11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Gawade;</a:t>
            </a:r>
          </a:p>
          <a:p>
            <a:pPr algn="ctr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</a:pPr>
            <a:r>
              <a:rPr lang="nl-BE" sz="11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Vidyalankar </a:t>
            </a:r>
            <a:r>
              <a:rPr lang="nl-BE" sz="11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Institute of Technology, Mumbai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2327EEB-5B77-2475-7034-32811F399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2418" y="72066"/>
            <a:ext cx="1878845" cy="6951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9B1A42F-476C-EBF0-593B-8EC9228E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097275-C638-1E4A-10CD-96AA92C729F9}"/>
              </a:ext>
            </a:extLst>
          </p:cNvPr>
          <p:cNvSpPr/>
          <p:nvPr/>
        </p:nvSpPr>
        <p:spPr>
          <a:xfrm rot="16200000">
            <a:off x="6657739" y="2345067"/>
            <a:ext cx="2021322" cy="2708690"/>
          </a:xfrm>
          <a:prstGeom prst="roundRect">
            <a:avLst>
              <a:gd name="adj" fmla="val 6072"/>
            </a:avLst>
          </a:prstGeom>
          <a:solidFill>
            <a:schemeClr val="bg1"/>
          </a:solidFill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DE33196A-29A9-42BF-D93A-F131E6C31850}"/>
              </a:ext>
            </a:extLst>
          </p:cNvPr>
          <p:cNvSpPr txBox="1"/>
          <p:nvPr/>
        </p:nvSpPr>
        <p:spPr>
          <a:xfrm>
            <a:off x="3143885" y="213881"/>
            <a:ext cx="277570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Fira Sans Medium"/>
              </a:rPr>
              <a:t>Project Card</a:t>
            </a:r>
            <a:endParaRPr kumimoji="0" sz="1000" b="1" i="0" u="none" strike="noStrike" kern="0" cap="none" spc="0" normalizeH="0" baseline="0" noProof="0" dirty="0">
              <a:ln>
                <a:noFill/>
              </a:ln>
              <a:solidFill>
                <a:srgbClr val="F9B45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229265-CA56-E5EC-E50D-05E9AD962450}"/>
              </a:ext>
            </a:extLst>
          </p:cNvPr>
          <p:cNvSpPr/>
          <p:nvPr/>
        </p:nvSpPr>
        <p:spPr>
          <a:xfrm>
            <a:off x="0" y="4915"/>
            <a:ext cx="9144000" cy="241517"/>
          </a:xfrm>
          <a:prstGeom prst="rect">
            <a:avLst/>
          </a:prstGeom>
          <a:solidFill>
            <a:srgbClr val="F59222"/>
          </a:solidFill>
          <a:ln>
            <a:solidFill>
              <a:srgbClr val="F592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B21C96-2606-1AC0-DBB0-D0091D35AE2C}"/>
              </a:ext>
            </a:extLst>
          </p:cNvPr>
          <p:cNvSpPr/>
          <p:nvPr/>
        </p:nvSpPr>
        <p:spPr>
          <a:xfrm>
            <a:off x="-38516" y="4904419"/>
            <a:ext cx="9144000" cy="243000"/>
          </a:xfrm>
          <a:prstGeom prst="rect">
            <a:avLst/>
          </a:prstGeom>
          <a:solidFill>
            <a:srgbClr val="0553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28AC1E-A0C2-2AFC-59F0-D1DBF0E5FF97}"/>
              </a:ext>
            </a:extLst>
          </p:cNvPr>
          <p:cNvSpPr/>
          <p:nvPr/>
        </p:nvSpPr>
        <p:spPr>
          <a:xfrm rot="16200000">
            <a:off x="2161309" y="-1126054"/>
            <a:ext cx="773084" cy="4504730"/>
          </a:xfrm>
          <a:prstGeom prst="roundRect">
            <a:avLst>
              <a:gd name="adj" fmla="val 6072"/>
            </a:avLst>
          </a:prstGeom>
          <a:solidFill>
            <a:schemeClr val="bg1"/>
          </a:solidFill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09D330C-C9D3-E5DD-5A65-79A4708FC79D}"/>
              </a:ext>
            </a:extLst>
          </p:cNvPr>
          <p:cNvSpPr/>
          <p:nvPr/>
        </p:nvSpPr>
        <p:spPr>
          <a:xfrm rot="16200000">
            <a:off x="712300" y="2256363"/>
            <a:ext cx="1999196" cy="2863972"/>
          </a:xfrm>
          <a:prstGeom prst="roundRect">
            <a:avLst>
              <a:gd name="adj" fmla="val 6072"/>
            </a:avLst>
          </a:prstGeom>
          <a:noFill/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6" name="Rectangle: Diagonal Corners Rounded 35">
            <a:extLst>
              <a:ext uri="{FF2B5EF4-FFF2-40B4-BE49-F238E27FC236}">
                <a16:creationId xmlns:a16="http://schemas.microsoft.com/office/drawing/2014/main" id="{FF4E14BB-28EA-440A-784C-CEAF1B730C4C}"/>
              </a:ext>
            </a:extLst>
          </p:cNvPr>
          <p:cNvSpPr/>
          <p:nvPr/>
        </p:nvSpPr>
        <p:spPr>
          <a:xfrm>
            <a:off x="5260507" y="720925"/>
            <a:ext cx="1756939" cy="1583856"/>
          </a:xfrm>
          <a:prstGeom prst="round2DiagRect">
            <a:avLst>
              <a:gd name="adj1" fmla="val 16667"/>
              <a:gd name="adj2" fmla="val 16021"/>
            </a:avLst>
          </a:prstGeom>
          <a:solidFill>
            <a:schemeClr val="bg1">
              <a:lumMod val="95000"/>
            </a:schemeClr>
          </a:solidFill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7" name="Rectangle: Diagonal Corners Rounded 36">
            <a:extLst>
              <a:ext uri="{FF2B5EF4-FFF2-40B4-BE49-F238E27FC236}">
                <a16:creationId xmlns:a16="http://schemas.microsoft.com/office/drawing/2014/main" id="{C3592338-5493-D2EC-0033-CDB347598D98}"/>
              </a:ext>
            </a:extLst>
          </p:cNvPr>
          <p:cNvSpPr/>
          <p:nvPr/>
        </p:nvSpPr>
        <p:spPr>
          <a:xfrm>
            <a:off x="7242486" y="720925"/>
            <a:ext cx="1756939" cy="1583856"/>
          </a:xfrm>
          <a:prstGeom prst="round2DiagRect">
            <a:avLst>
              <a:gd name="adj1" fmla="val 16667"/>
              <a:gd name="adj2" fmla="val 18186"/>
            </a:avLst>
          </a:prstGeom>
          <a:solidFill>
            <a:schemeClr val="bg1">
              <a:lumMod val="95000"/>
            </a:schemeClr>
          </a:solidFill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8A218A-FE81-5C71-DCD6-CBBA38458744}"/>
              </a:ext>
            </a:extLst>
          </p:cNvPr>
          <p:cNvSpPr txBox="1"/>
          <p:nvPr/>
        </p:nvSpPr>
        <p:spPr>
          <a:xfrm>
            <a:off x="5272848" y="799505"/>
            <a:ext cx="174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Total Sanctioned Amount 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1E817D-A1F3-FAA5-EBF5-D0D06AF93835}"/>
              </a:ext>
            </a:extLst>
          </p:cNvPr>
          <p:cNvSpPr txBox="1"/>
          <p:nvPr/>
        </p:nvSpPr>
        <p:spPr>
          <a:xfrm>
            <a:off x="5930000" y="1420000"/>
            <a:ext cx="105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₹ 2,40,000</a:t>
            </a:r>
          </a:p>
        </p:txBody>
      </p:sp>
      <p:pic>
        <p:nvPicPr>
          <p:cNvPr id="42" name="Graphic 41" descr="Rupee outline">
            <a:extLst>
              <a:ext uri="{FF2B5EF4-FFF2-40B4-BE49-F238E27FC236}">
                <a16:creationId xmlns:a16="http://schemas.microsoft.com/office/drawing/2014/main" id="{3E5167C3-894E-51D4-E9DC-0861992A3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85547" y="1340721"/>
            <a:ext cx="397649" cy="52441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FF012C2-F6B5-E55D-DF72-7DD51398F506}"/>
              </a:ext>
            </a:extLst>
          </p:cNvPr>
          <p:cNvSpPr txBox="1"/>
          <p:nvPr/>
        </p:nvSpPr>
        <p:spPr>
          <a:xfrm>
            <a:off x="7278147" y="784311"/>
            <a:ext cx="1744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Total Amount Disbursed from TIH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E28C10-722B-CC79-D2A3-95AC4F35D863}"/>
              </a:ext>
            </a:extLst>
          </p:cNvPr>
          <p:cNvSpPr txBox="1"/>
          <p:nvPr/>
        </p:nvSpPr>
        <p:spPr>
          <a:xfrm>
            <a:off x="7930000" y="1420000"/>
            <a:ext cx="1050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₹ 2,40,000</a:t>
            </a:r>
          </a:p>
        </p:txBody>
      </p:sp>
      <p:pic>
        <p:nvPicPr>
          <p:cNvPr id="45" name="Graphic 44" descr="Rupee outline">
            <a:extLst>
              <a:ext uri="{FF2B5EF4-FFF2-40B4-BE49-F238E27FC236}">
                <a16:creationId xmlns:a16="http://schemas.microsoft.com/office/drawing/2014/main" id="{8DA5B14C-61BD-7EFC-739F-0C8EDF2C2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549926" y="1332054"/>
            <a:ext cx="397649" cy="52441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9" name="Slide Number Placeholder 6">
            <a:extLst>
              <a:ext uri="{FF2B5EF4-FFF2-40B4-BE49-F238E27FC236}">
                <a16:creationId xmlns:a16="http://schemas.microsoft.com/office/drawing/2014/main" id="{BF59C88D-85F2-91E8-00A3-6280653D7638}"/>
              </a:ext>
            </a:extLst>
          </p:cNvPr>
          <p:cNvSpPr txBox="1">
            <a:spLocks/>
          </p:cNvSpPr>
          <p:nvPr/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" sz="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792F-8B8B-06DC-DB47-46FF48D6210B}"/>
              </a:ext>
            </a:extLst>
          </p:cNvPr>
          <p:cNvSpPr txBox="1"/>
          <p:nvPr/>
        </p:nvSpPr>
        <p:spPr>
          <a:xfrm>
            <a:off x="6383552" y="2805883"/>
            <a:ext cx="2009953" cy="276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Commercialization Plan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7B243A2-FDD4-284E-A6DD-D9E11873C40F}"/>
              </a:ext>
            </a:extLst>
          </p:cNvPr>
          <p:cNvSpPr/>
          <p:nvPr/>
        </p:nvSpPr>
        <p:spPr>
          <a:xfrm rot="16200000">
            <a:off x="3705746" y="2329557"/>
            <a:ext cx="2043063" cy="2708693"/>
          </a:xfrm>
          <a:prstGeom prst="roundRect">
            <a:avLst>
              <a:gd name="adj" fmla="val 6072"/>
            </a:avLst>
          </a:prstGeom>
          <a:noFill/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CEF496-9D2B-83E6-A7A0-3E9C2AEEC542}"/>
              </a:ext>
            </a:extLst>
          </p:cNvPr>
          <p:cNvSpPr txBox="1"/>
          <p:nvPr/>
        </p:nvSpPr>
        <p:spPr>
          <a:xfrm>
            <a:off x="295486" y="2812569"/>
            <a:ext cx="2747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Action Items from the previous review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CEA73-08A8-FD39-C499-D835FB9871DF}"/>
              </a:ext>
            </a:extLst>
          </p:cNvPr>
          <p:cNvSpPr txBox="1"/>
          <p:nvPr/>
        </p:nvSpPr>
        <p:spPr>
          <a:xfrm>
            <a:off x="298185" y="3126008"/>
            <a:ext cx="195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April 2026 review was the 1st review (no prior action items). Planned: pilot deployment for field testing and integration for end-to-end prediction.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DF0489-0C6E-6D0E-79C9-95D7A3A36F8D}"/>
              </a:ext>
            </a:extLst>
          </p:cNvPr>
          <p:cNvSpPr txBox="1"/>
          <p:nvPr/>
        </p:nvSpPr>
        <p:spPr>
          <a:xfrm>
            <a:off x="3400000" y="3175864"/>
            <a:ext cx="185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IP of models and dataset belongs to TIH IIT Bombay. No patents filed (Nil). Paper submitted to IEEE PerCom 2027.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8E2BE4-B8C9-2D9D-45DF-93B97446F10A}"/>
              </a:ext>
            </a:extLst>
          </p:cNvPr>
          <p:cNvSpPr txBox="1"/>
          <p:nvPr/>
        </p:nvSpPr>
        <p:spPr>
          <a:xfrm>
            <a:off x="391610" y="1160720"/>
            <a:ext cx="2428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 December 2025 – 30 September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1B89C6-AA7E-EB6A-B068-8C2836A52A60}"/>
              </a:ext>
            </a:extLst>
          </p:cNvPr>
          <p:cNvSpPr txBox="1"/>
          <p:nvPr/>
        </p:nvSpPr>
        <p:spPr>
          <a:xfrm>
            <a:off x="343512" y="880736"/>
            <a:ext cx="3064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Start Date and End Date of the project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E3F86-47E2-8930-B0DE-DEB9DA719AAB}"/>
              </a:ext>
            </a:extLst>
          </p:cNvPr>
          <p:cNvSpPr txBox="1"/>
          <p:nvPr/>
        </p:nvSpPr>
        <p:spPr>
          <a:xfrm>
            <a:off x="3290535" y="2847432"/>
            <a:ext cx="1744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IP/ Patents details</a:t>
            </a:r>
            <a:endParaRPr kumimoji="0" lang="en-IN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E2249-1BCE-A621-AD34-D4868B8ADE52}"/>
              </a:ext>
            </a:extLst>
          </p:cNvPr>
          <p:cNvSpPr txBox="1"/>
          <p:nvPr/>
        </p:nvSpPr>
        <p:spPr>
          <a:xfrm>
            <a:off x="6400000" y="3175864"/>
            <a:ext cx="1850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Not applicable at this stage. Pilot deployment and application integration are planned next steps.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5B2FA4-A889-F7F2-401A-C7D24D169AA9}"/>
              </a:ext>
            </a:extLst>
          </p:cNvPr>
          <p:cNvSpPr/>
          <p:nvPr/>
        </p:nvSpPr>
        <p:spPr>
          <a:xfrm rot="16200000">
            <a:off x="2187088" y="-223260"/>
            <a:ext cx="773084" cy="4504730"/>
          </a:xfrm>
          <a:prstGeom prst="roundRect">
            <a:avLst>
              <a:gd name="adj" fmla="val 6072"/>
            </a:avLst>
          </a:prstGeom>
          <a:solidFill>
            <a:schemeClr val="bg1"/>
          </a:solidFill>
          <a:ln>
            <a:solidFill>
              <a:srgbClr val="0553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11129-5CBA-1A1B-A504-15056F9FC91D}"/>
              </a:ext>
            </a:extLst>
          </p:cNvPr>
          <p:cNvSpPr txBox="1"/>
          <p:nvPr/>
        </p:nvSpPr>
        <p:spPr>
          <a:xfrm>
            <a:off x="391610" y="2062212"/>
            <a:ext cx="300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Attended AI4Agri Conference 2026; collaborative dataset procurement from the PoCRA team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B33CC-30EE-6719-E0D6-E808EB37301F}"/>
              </a:ext>
            </a:extLst>
          </p:cNvPr>
          <p:cNvSpPr txBox="1"/>
          <p:nvPr/>
        </p:nvSpPr>
        <p:spPr>
          <a:xfrm>
            <a:off x="369291" y="1783530"/>
            <a:ext cx="3064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Awards/Recognition</a:t>
            </a:r>
          </a:p>
        </p:txBody>
      </p:sp>
    </p:spTree>
    <p:extLst>
      <p:ext uri="{BB962C8B-B14F-4D97-AF65-F5344CB8AC3E}">
        <p14:creationId xmlns:p14="http://schemas.microsoft.com/office/powerpoint/2010/main" val="91927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Outline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AF11B-F145-3D79-A829-030DBCA08483}"/>
              </a:ext>
            </a:extLst>
          </p:cNvPr>
          <p:cNvSpPr txBox="1"/>
          <p:nvPr/>
        </p:nvSpPr>
        <p:spPr>
          <a:xfrm>
            <a:off x="0" y="665204"/>
            <a:ext cx="91440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Background, Problem Statement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Expected Benefits of the Project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Major Milestones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Shortfalls and reasons in Achievements of Milestones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Technical/Scientific Achievements for the Review Period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List of Publications, Patents etc.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Future </a:t>
            </a:r>
            <a:r>
              <a:rPr lang="en-US" sz="2000" b="1"/>
              <a:t>Work Planned</a:t>
            </a:r>
            <a:endParaRPr lang="en-US" sz="2000" b="1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Conclusions</a:t>
            </a:r>
          </a:p>
          <a:p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Background &amp; Problem Statement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11480" y="777240"/>
            <a:ext cx="5120640" cy="3566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Crop disease is a major controllable yield loss for smallholder farmers in Maharashtra; manual field inspection does not scale.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F2937"/>
                </a:solidFill>
                <a:latin typeface="Calibri"/>
              </a:rPr>
              <a:t>This project builds image-based disease classifiers for </a:t>
            </a:r>
            <a:r>
              <a:rPr sz="1450" b="1" i="0">
                <a:solidFill>
                  <a:srgbClr val="1F2937"/>
                </a:solidFill>
                <a:latin typeface="Calibri"/>
              </a:rPr>
              <a:t>Sugarcane, Pigeon Pea, Grapes and Mustard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 under the CHANAKYA Fellowship, supporting the </a:t>
            </a:r>
            <a:r>
              <a:rPr sz="1450" b="1" i="0">
                <a:solidFill>
                  <a:srgbClr val="1F2937"/>
                </a:solidFill>
                <a:latin typeface="Calibri"/>
              </a:rPr>
              <a:t>MahaVISTAAR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 AI-based advisory platform.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sz="1450" b="1" i="0">
                <a:solidFill>
                  <a:srgbClr val="1F2937"/>
                </a:solidFill>
                <a:latin typeface="Calibri"/>
              </a:rPr>
              <a:t>Problem: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 models trained on controlled PoCRA imagery are usually judged by internal accuracy, yet may fail on real field photographs (NPSS) – a domain shift.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sz="1450" b="1" i="0">
                <a:solidFill>
                  <a:srgbClr val="1F2937"/>
                </a:solidFill>
                <a:latin typeface="Calibri"/>
              </a:rPr>
              <a:t>Approach: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 supervised transfer learning (ResNet, DenseNet, EfficientNet, ConvNeXt, CSPDarkNet, Swin, DINOv2 and others) fine-tuned on PoCRA and tested on NPSS.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86868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0" y="914400"/>
            <a:ext cx="2743200" cy="5257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5539C"/>
                </a:solidFill>
                <a:latin typeface="Calibri"/>
              </a:rPr>
              <a:t>60+1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1415491"/>
            <a:ext cx="2651760" cy="4837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experiment configurations (23 Sugarcane, 29 Pigeon Pea, 8 Grapes) + 1 Mustard model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0574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2103120"/>
            <a:ext cx="2743200" cy="5257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59222"/>
                </a:solidFill>
                <a:latin typeface="Calibri"/>
              </a:rPr>
              <a:t>24–39%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2604211"/>
            <a:ext cx="2651760" cy="4837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NPSS accuracy of Sugarcane baselines that scored 85–97% internally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24612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0" y="3291839"/>
            <a:ext cx="2743200" cy="5257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5539C"/>
                </a:solidFill>
                <a:latin typeface="Calibri"/>
              </a:rPr>
              <a:t>4 crops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3792931"/>
            <a:ext cx="2651760" cy="48371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PoCRA-trained, NPSS field-evaluated (Mustard pending)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Objectives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11480" y="777240"/>
          <a:ext cx="8321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Develop image-based disease-classification models for Sugarcane, Pigeon Pea, Grapes and Mustard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Evaluate PoCRA→NPSS cross-domain generalisation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Partially achieved – Mustard pending; Grapes indicative (42 images)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Identify interventions that narrow the internal-to-field accuracy gap and test whether internal accuracy predicts field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Document methodology, results and reproducibility artifacts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Partially achieved – recorded at directory level (VDI-22)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Audit deployed models on NPSS data for additional crops and build NPSS data-extraction tooling (June 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Expected Benefits of the Project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11480" y="82296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877824"/>
            <a:ext cx="255117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Farmers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1170432"/>
            <a:ext cx="2551176" cy="26243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Scalable image-based diagnosis in place of manual inspection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Delivered through the MahaVISTAAR advisory platform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Field-realistic accuracy expectations (66–79% best on NPSS)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822960"/>
            <a:ext cx="26974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9272" y="877824"/>
            <a:ext cx="255117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TIH IIT Bombay / PoCRA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9272" y="1170432"/>
            <a:ext cx="2551176" cy="26243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Trained models for four crops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repeatable PoCRA→NPSS evaluation process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Audit of deployed models on NPSS for additional crops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822960"/>
            <a:ext cx="265176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53912" y="87782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Researchers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1170432"/>
            <a:ext cx="2505456" cy="26243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Documented 60+ experiments with metrics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Evidence that internal accuracy is an unreliable guide to field accuracy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400" b="0" i="0">
                <a:solidFill>
                  <a:srgbClr val="1F2937"/>
                </a:solidFill>
                <a:latin typeface="Calibri"/>
              </a:rPr>
              <a:t>Artifact index and a paper submitted to IEEE PerCom 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3977639"/>
            <a:ext cx="832104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Beneficiaries: smallholder farmers in Maharashtra; TIH IIT Bombay; PoCRA; future researchers and fellows.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Major Milestones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11480" y="777240"/>
          <a:ext cx="8321038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7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3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9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Project set-up and dataset understanding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Dec 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Dec 2025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Data-processing pipeline; baseline on raw dataset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Jan 2026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PoCRA dataset integration; crop-specific (Pigeon Pea, Mustard) training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Application testing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Feb 2026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GitHub collaboration and Docker fundamentals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Mar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Mar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Sugarcane study (23 configs); June deployed-model NPSS audit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Pigeon Pea (29) and Grapes (8) studies; Mustard model; Handover Report; paper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Jul–Sep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11480" y="45262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B6470"/>
                </a:solidFill>
                <a:latin typeface="Calibri"/>
              </a:rPr>
              <a:t>Milestones 1–5: April 2026 review presentation. Funds: ₹2,40,000 sanctioned and disbursed.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Shortfalls and Reasons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11480" y="749808"/>
            <a:ext cx="8321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02060"/>
                </a:solidFill>
                <a:latin typeface="Calibri"/>
              </a:rPr>
              <a:t>All approved milestones were completed on their target dates. Open items are limits of scope: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11480" y="1188720"/>
          <a:ext cx="83210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Open item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Reason / detail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Mustard: no NPSS evaluation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Only the internal PoCRA-curated test set (97.02%) was evaluated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Grapes: NPSS set of only 42 images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Small validated sample – results are indicative, not robust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Pigeon Pea Exp 10, 11, 16 not on NPSS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ShuffleNet and LiteMDC configurations were not evaluated on NPSS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Reproducibility artifacts at directory level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Splits, checkpoints and code on VDI-22; file-level split, seed and commit not recorded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Recording standard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Single run per configuration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Computational constraints; no confidence intervals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Repeated trials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Achievements – Headline Results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" y="77724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11480" y="416052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850" b="0" i="0">
                <a:solidFill>
                  <a:srgbClr val="5B6470"/>
                </a:solidFill>
                <a:latin typeface="Calibri"/>
              </a:rPr>
              <a:t>Best field-accuracy configuration per crop. Grapes field result is on 42 NPSS images; Mustard has no NPSS evaluation.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777240"/>
            <a:ext cx="3383280" cy="3657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Sugarcane: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CSPDarkNet53 + dropout/BN-freeze + class weights –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66.48%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NPSS (baselines 31.55–38.87%)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Pigeon Pea: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ConvNeXt-Base + augmentation + SAM –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71.31%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NPSS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Grapes: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DINOv2 + augmentation + SAM –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78.57%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NPSS (99.21% validation)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Mustard: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ResNet50 – </a:t>
            </a:r>
            <a:r>
              <a:rPr sz="1300" b="1" i="0">
                <a:solidFill>
                  <a:srgbClr val="1F2937"/>
                </a:solidFill>
                <a:latin typeface="Calibri"/>
              </a:rPr>
              <a:t>97.02%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internal test accuracy, macro F1 ≈ 0.967</a:t>
            </a:r>
          </a:p>
          <a:p>
            <a:pPr marL="171450" indent="-171450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Best Sugarcane foundation model: DINOv2 + class weights, 57.46%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Achievements – Internal vs Field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" y="7772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663440" y="7772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11480" y="3337560"/>
            <a:ext cx="832104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Internal accuracy is not a reliable proxy for field accuracy: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negatively correlated for Sugarcane (Spearman ρ = -0.73), uncorrelated for Pigeon Pea (ρ = 0.05).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Sugarcane: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class-weighted loss added +21 to +30 NPSS points for 7–10 points of internal accuracy.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</a:pPr>
            <a:r>
              <a:rPr sz="1300" b="1" i="0">
                <a:solidFill>
                  <a:srgbClr val="1F2937"/>
                </a:solidFill>
                <a:latin typeface="Calibri"/>
              </a:rPr>
              <a:t>Pigeon Pea: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 SAM on ConvNeXt-Base cost under 2 internal points for over 4 NPSS points.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Sugarcane – Best Field Model (Exp 40)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sc40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713232"/>
            <a:ext cx="4320862" cy="3429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4320" y="4187952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Confusion matrix (test set) – rows: actual, columns: predicted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Exp 40: CSPDarkNet53 + Dropout/BN Freeze + Class Weights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709160" y="960120"/>
          <a:ext cx="4069076" cy="273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Mosaic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0.9394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0.8267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0.8794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Red_rot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0.7830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0.8760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Redrot_rust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0.9804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0.4950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0.6579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Rust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0.8298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0.8966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0.9796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Yellow_Leaf_disease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0.9200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0.9534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0.8807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662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0.8783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662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Weighted avg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0.8981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0.8807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0.8724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662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709160" y="3749039"/>
            <a:ext cx="40690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Best field model: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66.48%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NPSS accuracy;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88.07%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internal test accuracy (662 test images, macro F1 0.8819).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Weakest class: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Redrot_rust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(recall 0.4950, F1 0.6579); Red_rot recall 0.9940 but precision 0.7830.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Pigeon Pea – Best Field Model (Exp 12)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pp12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713232"/>
            <a:ext cx="4292647" cy="3429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4320" y="4187952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Confusion matrix (test set) – rows: actual, columns: predicted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Exp 12: ConvNeXt-Base + Augmentation + SAM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709160" y="960120"/>
          <a:ext cx="4069076" cy="273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Phytopththora_blight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0.9111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0.8542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0.8817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Pod_borer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0.8851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0.9277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Root_rot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0.7931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0.7667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0.7797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Webbed_leaves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0.9048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0.9744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0.9383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Wilt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0.8182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0.9474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0.8780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0.9189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0.9096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Weighted avg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0.9223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0.9189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0.9191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709160" y="3749039"/>
            <a:ext cx="40690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Best Pigeon Pea field model: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71.31%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NPSS accuracy;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91.89%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internal test accuracy (macro F1 0.9101).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Weakest class: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Root_rot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(23 of 30 correct, F1 0.7797); Unknown is classified perfectly (51 of 51).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Pigeon Pea – Highest Internal Accuracy (Exp 22)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pp22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713232"/>
            <a:ext cx="4320862" cy="3429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4320" y="4187952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Confusion matrix (test set) – rows: actual, columns: predicted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Exp 22: Swin Transformer + Augmentation + CLAHE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709160" y="960120"/>
          <a:ext cx="4069076" cy="273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Phytopththora_blight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0.9891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0.9891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0.9891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Pod_borer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Root_rot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0.9636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0.9636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0.9636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Webbed_leaves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Wilt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Weighted avg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704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709160" y="3749039"/>
            <a:ext cx="40690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Highest internal test accuracy (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99.01%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, macro F1 0.9885) but only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49.73%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on NPSS field images.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Illustrates the internal-to-field gap: near-perfect internal scores did not carry over to field data.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Pigeon Pea – ResNet50 Baseline vs Two-Phase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11480" y="731520"/>
          <a:ext cx="8321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Baseline (resnet50.pth)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Final (resnet50_4.pth)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Training strategy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Single phase; backbone frozen, FC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Two phase: frozen, then unfrozen backbone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Single LR throughout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Phase 2 uses a lower LR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Test 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86.52%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88.41% (+1.89)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Macro precision / recall / F1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0.8375 / 0.8500 / 0.8413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0.8643 / 0.8575 / 0.8595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11480" y="2377440"/>
          <a:ext cx="83210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Baseline P / R / 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Final P / R / 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0.818 / 0.931 / 0.871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0.900 / 0.931 / 0.915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Phytopththora_blight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0.886 / 0.813 / 0.848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0.870 / 0.833 / 0.851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Pod_borer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0.926 / 0.862 / 0.893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0.868 / 0.908 / 0.888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Root_rot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0.513 / 0.667 / 0.580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0.656 / 0.700 / 0.677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1.000 / 1.000 / 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1.000 / 1.000 / 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Webbed_leaves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0.923 / 0.923 / 0.923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0.875 / 0.718 / 0.789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Wilt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0.796 / 0.754 / 0.775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F2937"/>
                          </a:solidFill>
                          <a:latin typeface="Calibri"/>
                        </a:rPr>
                        <a:t>0.881 / 0.912 / 0.897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B6470"/>
                </a:solidFill>
                <a:latin typeface="Calibri"/>
              </a:rPr>
              <a:t>Source: April 2026 review (early CROP06 iteration; the final model corresponds to Exp 2 in the consolidated study).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Mustard – Model Results (ResNet50)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Picture 33" descr="mu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713232"/>
            <a:ext cx="4324923" cy="3429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4320" y="4187952"/>
            <a:ext cx="4297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Confusion matrix (test set) – rows: actual, columns: predicted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65836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1" i="0">
                <a:solidFill>
                  <a:srgbClr val="002060"/>
                </a:solidFill>
                <a:latin typeface="Calibri"/>
              </a:rPr>
              <a:t>ResNet50 – PoCRA-curated Mustard test set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709160" y="960120"/>
          <a:ext cx="4069076" cy="2737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Alternaria_Blight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0.9341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0.8673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0.8995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Aphid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0.9770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0.9907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0.9838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Healthy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Pea_Leaf_Miner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0.9865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0.9932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Powdery_Mildew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0.9771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0.9828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173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0.9780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0.9468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0.9622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White_Rust_Leaf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0.9581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0.9702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1310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Macro avg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0.9674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Weighted avg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0.9701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0.9702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0.9700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1310</a:t>
                      </a:r>
                    </a:p>
                  </a:txBody>
                  <a:tcPr marL="54864" marR="54864" marT="27432" marB="27432" anchor="ctr">
                    <a:solidFill>
                      <a:srgbClr val="EA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709160" y="3749039"/>
            <a:ext cx="40690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Overall test accuracy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97.02%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(1,310 images); NPSS field evaluation for Mustard is pending.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1F2937"/>
                </a:solidFill>
                <a:latin typeface="Calibri"/>
              </a:rPr>
              <a:t>Weakest class: </a:t>
            </a:r>
            <a:r>
              <a:rPr sz="1050" b="1" i="0">
                <a:solidFill>
                  <a:srgbClr val="1F2937"/>
                </a:solidFill>
                <a:latin typeface="Calibri"/>
              </a:rPr>
              <a:t>Alternaria_Blight</a:t>
            </a:r>
            <a:r>
              <a:rPr sz="1050" b="0" i="0">
                <a:solidFill>
                  <a:srgbClr val="1F2937"/>
                </a:solidFill>
                <a:latin typeface="Calibri"/>
              </a:rPr>
              <a:t> (recall 0.8673) – 12 of 98 images were predicted as White_Rust_Leaf.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27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Achievements – June 2026 NPSS Audit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11480" y="822960"/>
            <a:ext cx="402336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877824"/>
            <a:ext cx="38770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Deployed-model audit on NPSS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1170432"/>
            <a:ext cx="3877056" cy="31272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NPSS data-extraction script pushed to GitHub (PoCRA_Test_Scripts) with a pull request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NPSS datasets extracted for Cotton, Soybean, Chickpea, Cucumber, Onion, Grapes, Sugarcane, Maize and Papaya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Crop-wise accuracy, per-class and misclassification reports prepared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Calibri"/>
              </a:rPr>
              <a:t>Also evaluated: Sorghum, Tomato, Mango, and threshold testing on Cotton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09160" y="822960"/>
            <a:ext cx="1920240" cy="109728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60" y="868680"/>
            <a:ext cx="1920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59222"/>
                </a:solidFill>
                <a:latin typeface="Calibri"/>
              </a:rPr>
              <a:t>26.11%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1393545"/>
            <a:ext cx="1828800" cy="5047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Cotton – deployed model, NPSS overall accuracy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822960"/>
            <a:ext cx="1920240" cy="109728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12280" y="868680"/>
            <a:ext cx="192024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59222"/>
                </a:solidFill>
                <a:latin typeface="Calibri"/>
              </a:rPr>
              <a:t>36.82%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1393545"/>
            <a:ext cx="1828800" cy="5047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Soybean – deployed ResNet-50, NPSS overall accuracy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2103120"/>
            <a:ext cx="402336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82312" y="2157984"/>
            <a:ext cx="38770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Sugarcane improvement (15–19 June)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2312" y="2450591"/>
            <a:ext cx="3877056" cy="18470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ResNet50/34 and MobileNetV2 trained and evaluated on NPSS at thresholds 0.00% and 70.00%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Class weights, dropout + BN-freeze, Mixup + SAM, then EfficientNet-B7, DenseNet201, ConvNeXt-Base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F2937"/>
                </a:solidFill>
                <a:latin typeface="Calibri"/>
              </a:rPr>
              <a:t>These runs fed the 23-configuration Sugarcane study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Publications and Patents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11480" y="822960"/>
          <a:ext cx="8321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Authors</a:t>
                      </a:r>
                    </a:p>
                  </a:txBody>
                  <a:tcPr marL="54864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From Lab to Field: Diagnosing the Internal-to-Field Accuracy Gap in Sugarcane and Pigeon Pea Disease 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IEEE PerCom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Yadnika Pashte, Yashodhan Rajapkar, Dr. Sushopti Gawade, Susmita Banerjee, Prajwal Rameshrao Asole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11480" y="2606040"/>
            <a:ext cx="4023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2660904"/>
            <a:ext cx="38770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Paper highlights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2953512"/>
            <a:ext cx="3877056" cy="1344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52 experiments (23 Sugarcane, 29 Pigeon Pea)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Best field accuracy 66.48% and 71.31%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Review in progress; conference: 8–12 March 2027, Goa, India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2606040"/>
            <a:ext cx="4023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82312" y="2660904"/>
            <a:ext cx="38770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02060"/>
                </a:solidFill>
                <a:latin typeface="Calibri"/>
              </a:rPr>
              <a:t>Patents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2312" y="2953512"/>
            <a:ext cx="3877056" cy="1344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Nil – no patent was filed during the project (1 Dec 2025 – 30 Sep 2026)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F2937"/>
                </a:solidFill>
                <a:latin typeface="Calibri"/>
              </a:rPr>
              <a:t>Handover Report v1.0 prepared 15 Sep 2026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Future Work Planned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411480" y="868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" y="92354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1  Complete NPSS coverage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121615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NPSS evaluation for Mustard; larger validated NPSS sample for Grapes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868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73552" y="92354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2  Domain adaptation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3552" y="121615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Correlation alignment, adversarial domain-invariant learning, Deep CORAL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8686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62472" y="92354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3  Class weights + backbones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121615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Pair class-weighted loss with ConvNeXt-Base, Swin, DINOv2 for Sugarcane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265176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" y="270662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4  Pigeon Pea improvements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299923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Test-time augmentation, few-shot fine-tuning, pseudo-label self-training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265176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73552" y="270662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5  Robust evaluation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3552" y="299923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Repeated trials with confidence intervals; record split, seed, checkpoint, commit for every run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89320" y="265176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55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62472" y="2706624"/>
            <a:ext cx="2505456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02060"/>
                </a:solidFill>
                <a:latin typeface="Calibri"/>
              </a:rPr>
              <a:t>6 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62472" y="2999232"/>
            <a:ext cx="2505456" cy="1252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Integrate models into the production application; real-world testing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06354A-5113-4880-9F18-35218E7A651B}"/>
              </a:ext>
            </a:extLst>
          </p:cNvPr>
          <p:cNvSpPr/>
          <p:nvPr/>
        </p:nvSpPr>
        <p:spPr>
          <a:xfrm>
            <a:off x="-1" y="236128"/>
            <a:ext cx="7517219" cy="385427"/>
          </a:xfrm>
          <a:prstGeom prst="rect">
            <a:avLst/>
          </a:prstGeom>
          <a:solidFill>
            <a:srgbClr val="00206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Tx/>
            </a:pPr>
            <a:r>
              <a:rPr lang="en-US" sz="3200" kern="12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Conclusions</a:t>
            </a:r>
            <a:endParaRPr lang="en-IN" sz="32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06AB81-695E-4456-A99E-29CC817507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C93AA3-D26B-73D4-BBD4-D622CE1C6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14502" y="168631"/>
            <a:ext cx="1406656" cy="520419"/>
          </a:xfrm>
          <a:prstGeom prst="rect">
            <a:avLst/>
          </a:prstGeom>
        </p:spPr>
      </p:pic>
      <p:grpSp>
        <p:nvGrpSpPr>
          <p:cNvPr id="6" name="Google Shape;2863;p91">
            <a:extLst>
              <a:ext uri="{FF2B5EF4-FFF2-40B4-BE49-F238E27FC236}">
                <a16:creationId xmlns:a16="http://schemas.microsoft.com/office/drawing/2014/main" id="{05CD5998-69AF-B076-35BE-36A5445B21E8}"/>
              </a:ext>
            </a:extLst>
          </p:cNvPr>
          <p:cNvGrpSpPr/>
          <p:nvPr/>
        </p:nvGrpSpPr>
        <p:grpSpPr>
          <a:xfrm flipH="1">
            <a:off x="-1078189" y="3951767"/>
            <a:ext cx="1929500" cy="2210100"/>
            <a:chOff x="295725" y="-3462825"/>
            <a:chExt cx="1929500" cy="2210100"/>
          </a:xfrm>
          <a:solidFill>
            <a:srgbClr val="05539C"/>
          </a:solidFill>
        </p:grpSpPr>
        <p:sp>
          <p:nvSpPr>
            <p:cNvPr id="7" name="Google Shape;2864;p91">
              <a:extLst>
                <a:ext uri="{FF2B5EF4-FFF2-40B4-BE49-F238E27FC236}">
                  <a16:creationId xmlns:a16="http://schemas.microsoft.com/office/drawing/2014/main" id="{1510F5DE-AB9D-4EAB-A933-41C98C9CA2D2}"/>
                </a:ext>
              </a:extLst>
            </p:cNvPr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865;p91">
              <a:extLst>
                <a:ext uri="{FF2B5EF4-FFF2-40B4-BE49-F238E27FC236}">
                  <a16:creationId xmlns:a16="http://schemas.microsoft.com/office/drawing/2014/main" id="{373DD7B2-7B5D-CB31-1A71-B6A1F5871448}"/>
                </a:ext>
              </a:extLst>
            </p:cNvPr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866;p91">
              <a:extLst>
                <a:ext uri="{FF2B5EF4-FFF2-40B4-BE49-F238E27FC236}">
                  <a16:creationId xmlns:a16="http://schemas.microsoft.com/office/drawing/2014/main" id="{3344BA1F-EDBA-2098-CF02-D1298A603B6D}"/>
                </a:ext>
              </a:extLst>
            </p:cNvPr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867;p91">
              <a:extLst>
                <a:ext uri="{FF2B5EF4-FFF2-40B4-BE49-F238E27FC236}">
                  <a16:creationId xmlns:a16="http://schemas.microsoft.com/office/drawing/2014/main" id="{56AF2797-B584-7924-C1F6-363A31298C85}"/>
                </a:ext>
              </a:extLst>
            </p:cNvPr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868;p91">
              <a:extLst>
                <a:ext uri="{FF2B5EF4-FFF2-40B4-BE49-F238E27FC236}">
                  <a16:creationId xmlns:a16="http://schemas.microsoft.com/office/drawing/2014/main" id="{54C55F2F-9B64-5E80-09C7-5D02AD14A2B8}"/>
                </a:ext>
              </a:extLst>
            </p:cNvPr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869;p91">
              <a:extLst>
                <a:ext uri="{FF2B5EF4-FFF2-40B4-BE49-F238E27FC236}">
                  <a16:creationId xmlns:a16="http://schemas.microsoft.com/office/drawing/2014/main" id="{A4DBA766-F009-9AAC-7236-46F36CCA1404}"/>
                </a:ext>
              </a:extLst>
            </p:cNvPr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870;p91">
              <a:extLst>
                <a:ext uri="{FF2B5EF4-FFF2-40B4-BE49-F238E27FC236}">
                  <a16:creationId xmlns:a16="http://schemas.microsoft.com/office/drawing/2014/main" id="{4F5DCFD6-703C-135B-E0E4-6B709E7EDBAA}"/>
                </a:ext>
              </a:extLst>
            </p:cNvPr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871;p91">
              <a:extLst>
                <a:ext uri="{FF2B5EF4-FFF2-40B4-BE49-F238E27FC236}">
                  <a16:creationId xmlns:a16="http://schemas.microsoft.com/office/drawing/2014/main" id="{FA670E69-53A0-6D6A-FF20-B229903AB828}"/>
                </a:ext>
              </a:extLst>
            </p:cNvPr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872;p91">
              <a:extLst>
                <a:ext uri="{FF2B5EF4-FFF2-40B4-BE49-F238E27FC236}">
                  <a16:creationId xmlns:a16="http://schemas.microsoft.com/office/drawing/2014/main" id="{36264FC3-0341-1AF3-B64A-7FAA31BF1336}"/>
                </a:ext>
              </a:extLst>
            </p:cNvPr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873;p91">
              <a:extLst>
                <a:ext uri="{FF2B5EF4-FFF2-40B4-BE49-F238E27FC236}">
                  <a16:creationId xmlns:a16="http://schemas.microsoft.com/office/drawing/2014/main" id="{403C9D1E-C712-2B64-0E9D-8823C5BE224F}"/>
                </a:ext>
              </a:extLst>
            </p:cNvPr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874;p91">
              <a:extLst>
                <a:ext uri="{FF2B5EF4-FFF2-40B4-BE49-F238E27FC236}">
                  <a16:creationId xmlns:a16="http://schemas.microsoft.com/office/drawing/2014/main" id="{933D5A38-4288-916C-26D0-FB9CBC2E2541}"/>
                </a:ext>
              </a:extLst>
            </p:cNvPr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875;p91">
              <a:extLst>
                <a:ext uri="{FF2B5EF4-FFF2-40B4-BE49-F238E27FC236}">
                  <a16:creationId xmlns:a16="http://schemas.microsoft.com/office/drawing/2014/main" id="{3335FB1E-F766-4333-88B2-E1946E6C0930}"/>
                </a:ext>
              </a:extLst>
            </p:cNvPr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76;p91">
              <a:extLst>
                <a:ext uri="{FF2B5EF4-FFF2-40B4-BE49-F238E27FC236}">
                  <a16:creationId xmlns:a16="http://schemas.microsoft.com/office/drawing/2014/main" id="{C1EA4DBD-75D9-6EE9-6A9E-1EBA2003C7DF}"/>
                </a:ext>
              </a:extLst>
            </p:cNvPr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877;p91">
              <a:extLst>
                <a:ext uri="{FF2B5EF4-FFF2-40B4-BE49-F238E27FC236}">
                  <a16:creationId xmlns:a16="http://schemas.microsoft.com/office/drawing/2014/main" id="{8109AD27-6EF1-DC93-4BAF-EF04E70B3EE0}"/>
                </a:ext>
              </a:extLst>
            </p:cNvPr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878;p91">
              <a:extLst>
                <a:ext uri="{FF2B5EF4-FFF2-40B4-BE49-F238E27FC236}">
                  <a16:creationId xmlns:a16="http://schemas.microsoft.com/office/drawing/2014/main" id="{F6442FB8-FCBE-D3EA-83B8-F54965FFA6DF}"/>
                </a:ext>
              </a:extLst>
            </p:cNvPr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879;p91">
              <a:extLst>
                <a:ext uri="{FF2B5EF4-FFF2-40B4-BE49-F238E27FC236}">
                  <a16:creationId xmlns:a16="http://schemas.microsoft.com/office/drawing/2014/main" id="{386994A8-73B4-4077-665D-E8BF6A5468B8}"/>
                </a:ext>
              </a:extLst>
            </p:cNvPr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880;p91">
              <a:extLst>
                <a:ext uri="{FF2B5EF4-FFF2-40B4-BE49-F238E27FC236}">
                  <a16:creationId xmlns:a16="http://schemas.microsoft.com/office/drawing/2014/main" id="{D2216580-3DF2-AFE7-2B51-8C7757931AFA}"/>
                </a:ext>
              </a:extLst>
            </p:cNvPr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881;p91">
              <a:extLst>
                <a:ext uri="{FF2B5EF4-FFF2-40B4-BE49-F238E27FC236}">
                  <a16:creationId xmlns:a16="http://schemas.microsoft.com/office/drawing/2014/main" id="{DFA830A1-FDC3-2656-ED59-8E48C8FF6B81}"/>
                </a:ext>
              </a:extLst>
            </p:cNvPr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882;p91">
              <a:extLst>
                <a:ext uri="{FF2B5EF4-FFF2-40B4-BE49-F238E27FC236}">
                  <a16:creationId xmlns:a16="http://schemas.microsoft.com/office/drawing/2014/main" id="{6117C439-73DF-9120-679A-0F65F78248DA}"/>
                </a:ext>
              </a:extLst>
            </p:cNvPr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83;p91">
              <a:extLst>
                <a:ext uri="{FF2B5EF4-FFF2-40B4-BE49-F238E27FC236}">
                  <a16:creationId xmlns:a16="http://schemas.microsoft.com/office/drawing/2014/main" id="{C95670B5-2D1B-61FF-FD5E-C46A5BC019E9}"/>
                </a:ext>
              </a:extLst>
            </p:cNvPr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884;p91">
              <a:extLst>
                <a:ext uri="{FF2B5EF4-FFF2-40B4-BE49-F238E27FC236}">
                  <a16:creationId xmlns:a16="http://schemas.microsoft.com/office/drawing/2014/main" id="{4466E86D-F1CB-BBFD-9F20-F60929716898}"/>
                </a:ext>
              </a:extLst>
            </p:cNvPr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885;p91">
              <a:extLst>
                <a:ext uri="{FF2B5EF4-FFF2-40B4-BE49-F238E27FC236}">
                  <a16:creationId xmlns:a16="http://schemas.microsoft.com/office/drawing/2014/main" id="{8D564469-F399-8A16-40F1-C72555797ED6}"/>
                </a:ext>
              </a:extLst>
            </p:cNvPr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886;p91">
              <a:extLst>
                <a:ext uri="{FF2B5EF4-FFF2-40B4-BE49-F238E27FC236}">
                  <a16:creationId xmlns:a16="http://schemas.microsoft.com/office/drawing/2014/main" id="{93268B74-5C8B-10DF-BBE4-F5781722428B}"/>
                </a:ext>
              </a:extLst>
            </p:cNvPr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887;p91">
              <a:extLst>
                <a:ext uri="{FF2B5EF4-FFF2-40B4-BE49-F238E27FC236}">
                  <a16:creationId xmlns:a16="http://schemas.microsoft.com/office/drawing/2014/main" id="{162B3CC2-4591-2A7E-D42F-15697403EB9B}"/>
                </a:ext>
              </a:extLst>
            </p:cNvPr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888;p91">
              <a:extLst>
                <a:ext uri="{FF2B5EF4-FFF2-40B4-BE49-F238E27FC236}">
                  <a16:creationId xmlns:a16="http://schemas.microsoft.com/office/drawing/2014/main" id="{73AA7934-507F-DEFE-B8D6-82E17CD532EE}"/>
                </a:ext>
              </a:extLst>
            </p:cNvPr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11480" y="777240"/>
            <a:ext cx="5029200" cy="3657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71450" indent="-17145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>Internal accuracy is </a:t>
            </a:r>
            <a:r>
              <a:rPr sz="1500" b="1" i="0">
                <a:solidFill>
                  <a:srgbClr val="1F2937"/>
                </a:solidFill>
                <a:latin typeface="Calibri"/>
              </a:rPr>
              <a:t>not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 a trustworthy predictor of field accuracy: negatively correlated (Sugarcane) or uncorrelated (Pigeon Pea).</a:t>
            </a:r>
          </a:p>
          <a:p>
            <a:pPr marL="171450" indent="-17145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>Domain-gap levers differ by crop: </a:t>
            </a:r>
            <a:r>
              <a:rPr sz="1500" b="1" i="0">
                <a:solidFill>
                  <a:srgbClr val="1F2937"/>
                </a:solidFill>
                <a:latin typeface="Calibri"/>
              </a:rPr>
              <a:t>class-weighted loss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 for Sugarcane, </a:t>
            </a:r>
            <a:r>
              <a:rPr sz="1500" b="1" i="0">
                <a:solidFill>
                  <a:srgbClr val="1F2937"/>
                </a:solidFill>
                <a:latin typeface="Calibri"/>
              </a:rPr>
              <a:t>SAM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 for Pigeon Pea; ConvNeXt-Base and DINOv2 generalised most consistently.</a:t>
            </a:r>
          </a:p>
          <a:p>
            <a:pPr marL="171450" indent="-17145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>Grapes (42-image NPSS set) reached 78.57%; Mustard reached 97.02% internally with NPSS evaluation outstanding.</a:t>
            </a:r>
          </a:p>
          <a:p>
            <a:pPr marL="171450" indent="-171450"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Calibri"/>
              </a:rPr>
              <a:t>Best field accuracies (66–79%) remain below internal accuracy – cross-domain evaluation should be standard practice before deployment.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822960"/>
            <a:ext cx="2926080" cy="10058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760720" y="868680"/>
            <a:ext cx="2926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5539C"/>
                </a:solidFill>
                <a:latin typeface="Calibri"/>
              </a:rPr>
              <a:t>66.48%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1345996"/>
            <a:ext cx="2834640" cy="4626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Sugarcane – best NPSS accuracy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1965960"/>
            <a:ext cx="2926080" cy="10058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0" y="2011679"/>
            <a:ext cx="2926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5539C"/>
                </a:solidFill>
                <a:latin typeface="Calibri"/>
              </a:rPr>
              <a:t>71.31%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488996"/>
            <a:ext cx="2834640" cy="4626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Pigeon Pea – best NPSS accuracy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3108960"/>
            <a:ext cx="2926080" cy="1005840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0" y="3154679"/>
            <a:ext cx="29260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59222"/>
                </a:solidFill>
                <a:latin typeface="Calibri"/>
              </a:rPr>
              <a:t>78.57%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631996"/>
            <a:ext cx="2834640" cy="4626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Grapes – best NPSS accuracy (42 images)</a:t>
            </a:r>
          </a:p>
        </p:txBody>
      </p:sp>
    </p:spTree>
    <p:extLst>
      <p:ext uri="{BB962C8B-B14F-4D97-AF65-F5344CB8AC3E}">
        <p14:creationId xmlns:p14="http://schemas.microsoft.com/office/powerpoint/2010/main" val="205148833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4471</TotalTime>
  <Words>2129</Words>
  <Application>Microsoft Office PowerPoint</Application>
  <PresentationFormat>On-screen Show (16:9)</PresentationFormat>
  <Paragraphs>498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Fira Sans Medium</vt:lpstr>
      <vt:lpstr>Roboto</vt:lpstr>
      <vt:lpstr>Times New Roman</vt:lpstr>
      <vt:lpstr>Calibri</vt:lpstr>
      <vt:lpstr>Montserrat Medium</vt:lpstr>
      <vt:lpstr>Simple Light</vt:lpstr>
      <vt:lpstr>AI-Driven Crop Disease Detection Using Image Processing and Computer Vision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Yadnika Pashte</cp:lastModifiedBy>
  <cp:revision>78</cp:revision>
  <dcterms:modified xsi:type="dcterms:W3CDTF">2026-10-09T06:28:20Z</dcterms:modified>
</cp:coreProperties>
</file>